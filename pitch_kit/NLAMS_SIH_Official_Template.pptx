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426"/>
          </a:solidFill>
          <a:ln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DBA74"/>
                </a:solidFill>
              </a:defRPr>
            </a:pPr>
            <a:r>
              <a:t>SMART INDIA HACKATHON 2026 — IDEA / SOLUTION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0725912" cy="54864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5212080" cy="5394960"/>
          </a:xfrm>
          <a:prstGeom prst="roundRect">
            <a:avLst/>
          </a:prstGeom>
          <a:solidFill>
            <a:srgbClr val="0B1E36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4846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EA580C"/>
                </a:solidFill>
              </a:defRPr>
            </a:pPr>
            <a:r>
              <a:t>PROBLEM STATEMENT DETAILS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Problem Statement ID: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SIH26016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Problem Statement Title: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Real-Time National Land Acquisition &amp; Management System (NLAMS)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Ministry / Department: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Ministry of Rural Development</a:t>
            </a:r>
            <a:br/>
            <a:r>
              <a:t>Department of Land Resources (DoLR)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Theme / Domain: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Smart Governance, Infrastructure &amp; Geospatial Systems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Category:</a:t>
            </a:r>
          </a:p>
          <a:p>
            <a:pPr>
              <a:spcAft>
                <a:spcPts val="600"/>
              </a:spcAft>
              <a:defRPr sz="1200" b="1">
                <a:solidFill>
                  <a:srgbClr val="FFFFFF"/>
                </a:solidFill>
              </a:defRPr>
            </a:pPr>
            <a:r>
              <a:t>Software Edition (Web, GIS &amp; AI)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51560"/>
            <a:ext cx="5239512" cy="5394960"/>
          </a:xfrm>
          <a:prstGeom prst="roundRect">
            <a:avLst/>
          </a:prstGeom>
          <a:solidFill>
            <a:srgbClr val="0B1E36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48463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59669"/>
                </a:solidFill>
              </a:defRPr>
            </a:pPr>
            <a:r>
              <a:t>TEAM DETAILS — TEAM APEX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• Team Name: APEX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• Team Leader: Team Leader (Full-Stack &amp; Statutory Workflow Lead)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• Member 2: Geospatial &amp; Cadastral GIS Architect (Leaflet / PostGIS)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• Member 3: Backend &amp; Financial Integration Engineer (FastAPI / PFMS)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• Member 4: AI/ML Engineer (Scikit-Learn Delay Predictor)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• Member 5: UI/UX &amp; GIGW 3.0 Accessibility Designer</a:t>
            </a:r>
          </a:p>
          <a:p>
            <a:pPr>
              <a:spcBef>
                <a:spcPts val="300"/>
              </a:spcBef>
              <a:defRPr sz="1100">
                <a:solidFill>
                  <a:srgbClr val="FFFFFF"/>
                </a:solidFill>
              </a:defRPr>
            </a:pPr>
            <a:r>
              <a:t>• Member 6: QA, Database &amp; Cloud Security Lead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Institute: Engineering &amp; Technology Department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71426"/>
          </a:solidFill>
          <a:ln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4059936" cy="54864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59936" y="1005840"/>
            <a:ext cx="4059936" cy="548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19872" y="1005840"/>
            <a:ext cx="4069080" cy="5486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DBA74"/>
                </a:solidFill>
              </a:defRPr>
            </a:pPr>
            <a:r>
              <a:t>SMART INDIA HACKATHON 2026 • PS ID: SIH26016 • TEAM: APEX • SLIDE 02/08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t>Idea / Solution Description — Core Innovation &amp; Novelty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4937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The Core Idea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NLAMS is a unified statutory enterprise platform digitizing India's public land acquisition lifecycle end-to-end under the RFCTLARR Act, 2013 and sector-specific central legislations (National Highways Act 1956, Railways Act 1989).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Eliminates the 66% judicial pendency bottleneck by replacing subjective paper processes with deterministic mathematical engines and spatial verification.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Directly addresses capital lock-in of ₹85,000+ Cr and slashes corridor acquisition time from 36 months down to 4 months.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39512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71600"/>
            <a:ext cx="49377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580C"/>
                </a:solidFill>
              </a:defRPr>
            </a:pPr>
            <a:r>
              <a:t>Key Novelty &amp; Unique Selling Proposition (USP)</a:t>
            </a:r>
          </a:p>
          <a:p>
            <a:pPr>
              <a:spcBef>
                <a:spcPts val="500"/>
              </a:spcBef>
              <a:defRPr sz="1050">
                <a:solidFill>
                  <a:srgbClr val="334155"/>
                </a:solidFill>
              </a:defRPr>
            </a:pPr>
            <a:r>
              <a:t>★ 1. 14-Digit ULPIN Bhu-Aadhaar Spatial Lock: Instant API encumbrance lock on State RoRs (Bhulekh) upon Section 11 gazette, preventing fraudulent duplicate sales.</a:t>
            </a:r>
          </a:p>
          <a:p>
            <a:pPr>
              <a:spcBef>
                <a:spcPts val="500"/>
              </a:spcBef>
              <a:defRPr sz="1050">
                <a:solidFill>
                  <a:srgbClr val="334155"/>
                </a:solidFill>
              </a:defRPr>
            </a:pPr>
            <a:r>
              <a:t>★ 2. Deterministic 9-Stage Legal Gatekeeper: Enforces strict legal sequence (SIA -&gt; Sec 11 -&gt; Sec 15 Inquiry -&gt; Sec 19 -&gt; Sec 23/3G Award -&gt; Sec 38 Mutation).</a:t>
            </a:r>
          </a:p>
          <a:p>
            <a:pPr>
              <a:spcBef>
                <a:spcPts val="500"/>
              </a:spcBef>
              <a:defRPr sz="1050">
                <a:solidFill>
                  <a:srgbClr val="334155"/>
                </a:solidFill>
              </a:defRPr>
            </a:pPr>
            <a:r>
              <a:t>★ 3. Audited First Schedule Valuation: Transparent arithmetic picking max(Circle Rate, 3-Yr Deeds, PPP) × Rural Multiplier + Assets + 100% Solatium + 12% Addl.</a:t>
            </a:r>
          </a:p>
          <a:p>
            <a:pPr>
              <a:spcBef>
                <a:spcPts val="500"/>
              </a:spcBef>
              <a:defRPr sz="1050">
                <a:solidFill>
                  <a:srgbClr val="334155"/>
                </a:solidFill>
              </a:defRPr>
            </a:pPr>
            <a:r>
              <a:t>★ 4. PFMS Direct Benefit Transfer (DBT): ISO 20022 XML batch payments crediting farmers directly, eliminating intermediate commercial bank deposit floats.</a:t>
            </a:r>
          </a:p>
          <a:p>
            <a:pPr>
              <a:spcBef>
                <a:spcPts val="500"/>
              </a:spcBef>
              <a:defRPr sz="1050">
                <a:solidFill>
                  <a:srgbClr val="334155"/>
                </a:solidFill>
              </a:defRPr>
            </a:pPr>
            <a:r>
              <a:t>★ 5. Inline Scikit-Learn Delay Predictor: Forecasts bottleneck stage and delays in days/months with prescriptive administrative mitigations.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71426"/>
          </a:solidFill>
          <a:ln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4059936" cy="54864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59936" y="1005840"/>
            <a:ext cx="4059936" cy="548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19872" y="1005840"/>
            <a:ext cx="4069080" cy="5486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DBA74"/>
                </a:solidFill>
              </a:defRPr>
            </a:pPr>
            <a:r>
              <a:t>SMART INDIA HACKATHON 2026 • PS ID: SIH26016 • TEAM: APEX • SLIDE 03/08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t>Technical Approach &amp; Architecture — Methodology &amp;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34747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3200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Frontend Tier</a:t>
            </a:r>
          </a:p>
          <a:p>
            <a:pPr>
              <a:spcAft>
                <a:spcPts val="800"/>
              </a:spcAft>
              <a:defRPr sz="900" b="1">
                <a:solidFill>
                  <a:srgbClr val="2563EB"/>
                </a:solidFill>
              </a:defRPr>
            </a:pPr>
            <a:r>
              <a:t>React 18 • Vite • Leaflet.js • Tailwind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GIGW 3.0 Government accessibility compliance.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Dynamic A-/A/A+ font scaler &amp; bilingual English/Hindi toggle.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Interactive Leaflet GeoJSON cadastral polygon visualizer.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Reactive parameter sliders for First Schedule award calculation.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34440"/>
            <a:ext cx="34747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371600"/>
            <a:ext cx="3200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Backend &amp; ORM</a:t>
            </a:r>
          </a:p>
          <a:p>
            <a:pPr>
              <a:spcAft>
                <a:spcPts val="800"/>
              </a:spcAft>
              <a:defRPr sz="900" b="1">
                <a:solidFill>
                  <a:srgbClr val="EA580C"/>
                </a:solidFill>
              </a:defRPr>
            </a:pPr>
            <a:r>
              <a:t>Python FastAPI • SQLAlchemy 2.0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Async REST architecture with Pydantic v2 validation.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PostgreSQL / PostGIS geospatial engine with SQLite fallback.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Deterministic 9-stage statutory workflow state machine.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Class-3 DSC digital signatures and SHA-256 e-Gazette hash.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234440"/>
            <a:ext cx="34747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7304" y="1371600"/>
            <a:ext cx="3200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AI &amp; Integrations</a:t>
            </a:r>
          </a:p>
          <a:p>
            <a:pPr>
              <a:spcAft>
                <a:spcPts val="800"/>
              </a:spcAft>
              <a:defRPr sz="900" b="1">
                <a:solidFill>
                  <a:srgbClr val="059669"/>
                </a:solidFill>
              </a:defRPr>
            </a:pPr>
            <a:r>
              <a:t>Scikit-Learn • PM GatiShakti • PFMS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Scikit-Learn Random Forest delay prediction engine.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Multi-variable risk scoring (Acreage, disputes, multiplier, forest).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PFMS ISO 20022 XML batch direct bank credit generator.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Automated state registry webhooks (UP Bhulekh, 7/12, Bhoomi).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71426"/>
          </a:solidFill>
          <a:ln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4059936" cy="54864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59936" y="1005840"/>
            <a:ext cx="4059936" cy="548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19872" y="1005840"/>
            <a:ext cx="4069080" cy="5486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DBA74"/>
                </a:solidFill>
              </a:defRPr>
            </a:pPr>
            <a:r>
              <a:t>SMART INDIA HACKATHON 2026 • PS ID: SIH26016 • TEAM: APEX • SLIDE 04/08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t>Feasibility &amp; Viability — Technical, Operational &amp; Economic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34747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3200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Technical Feasibility</a:t>
            </a:r>
          </a:p>
          <a:p>
            <a:pPr>
              <a:spcAft>
                <a:spcPts val="800"/>
              </a:spcAft>
              <a:defRPr sz="900" b="1">
                <a:solidFill>
                  <a:srgbClr val="2563EB"/>
                </a:solidFill>
              </a:defRPr>
            </a:pPr>
            <a:r>
              <a:t>100% Proven Open Stack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Built entirely on standard open-source tools (FastAPI, React, Leaflet, Scikit-Learn) with zero proprietary licensing costs.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Microservices architecture enables seamless cloud containerization (Docker/Kubernetes) on NIC MeghRaj Government Cloud.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Standard REST APIs with OpenAPI / Swagger documentation ready for immediate integration.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34440"/>
            <a:ext cx="34747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371600"/>
            <a:ext cx="3200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Operational Feasibility</a:t>
            </a:r>
          </a:p>
          <a:p>
            <a:pPr>
              <a:spcAft>
                <a:spcPts val="800"/>
              </a:spcAft>
              <a:defRPr sz="900" b="1">
                <a:solidFill>
                  <a:srgbClr val="EA580C"/>
                </a:solidFill>
              </a:defRPr>
            </a:pPr>
            <a:r>
              <a:t>Full Legal &amp; Institutional Alignment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Strictly maps to existing revenue roles: Requiring Bodies (NHAI/DFCCIL), CALA / District Collectors, SROs, and Landowners.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Generates statutory bilingual e-Gazette (Form 11A) and Section 15 quasi-judicial hearing notices matching Indian court norms.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Citizen-friendly portal requires zero login credentials for public ULPIN transparency.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234440"/>
            <a:ext cx="34747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7304" y="1371600"/>
            <a:ext cx="3200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Economic Viability</a:t>
            </a:r>
          </a:p>
          <a:p>
            <a:pPr>
              <a:spcAft>
                <a:spcPts val="800"/>
              </a:spcAft>
              <a:defRPr sz="900" b="1">
                <a:solidFill>
                  <a:srgbClr val="059669"/>
                </a:solidFill>
              </a:defRPr>
            </a:pPr>
            <a:r>
              <a:t>High ROI &amp; Macroeconomic Savings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Eliminates ₹ thousands of crores in idle commercial bank CALA parking floats via direct PFMS DBT.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Reduces corridor project delay costs by an estimated ₹12,000+ Cr across national highway &amp; railway packages.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Zero operational cost for farmers accessing compensation estimate slips.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71426"/>
          </a:solidFill>
          <a:ln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4059936" cy="54864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59936" y="1005840"/>
            <a:ext cx="4059936" cy="548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19872" y="1005840"/>
            <a:ext cx="4069080" cy="5486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DBA74"/>
                </a:solidFill>
              </a:defRPr>
            </a:pPr>
            <a:r>
              <a:t>SMART INDIA HACKATHON 2026 • PS ID: SIH26016 • TEAM: APEX • SLIDE 05/08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t>Impact &amp; Benefits — Stakeholder &amp; National 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34747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3200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Farmers &amp; Landowners</a:t>
            </a:r>
          </a:p>
          <a:p>
            <a:pPr>
              <a:spcAft>
                <a:spcPts val="800"/>
              </a:spcAft>
              <a:defRPr sz="900" b="1">
                <a:solidFill>
                  <a:srgbClr val="059669"/>
                </a:solidFill>
              </a:defRPr>
            </a:pPr>
            <a:r>
              <a:t>Trust &amp; Zero Leakage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Instant clarity on land acquisition stage via 14-digit ULPIN lookup.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Printable statutory compensation breakdown slips detailing circle rate, solatium, and additional 12% amounts.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Transparent online Section 15 grievance filing with guaranteed quasi-judicial hearing notices.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Direct bank account credit via PFMS without intermediate bribery or delay.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34440"/>
            <a:ext cx="34747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371600"/>
            <a:ext cx="3200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Government &amp; CALA Officers</a:t>
            </a:r>
          </a:p>
          <a:p>
            <a:pPr>
              <a:spcAft>
                <a:spcPts val="800"/>
              </a:spcAft>
              <a:defRPr sz="900" b="1">
                <a:solidFill>
                  <a:srgbClr val="2563EB"/>
                </a:solidFill>
              </a:defRPr>
            </a:pPr>
            <a:r>
              <a:t>Speed &amp; Legal Immunity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Automated state machine prevents procedural violations that cause high court stay orders.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Automated bilingual gazette drafting and instant State RoR encumbrance locking.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R&amp;R tracking dashboard monitoring Second Schedule monetary grants and Third Schedule civic amenities.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AI bottleneck forecaster alerts leadership before projects exceed statutory 12-month lapse limits.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234440"/>
            <a:ext cx="347472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7304" y="1371600"/>
            <a:ext cx="3200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National Economy</a:t>
            </a:r>
          </a:p>
          <a:p>
            <a:pPr>
              <a:spcAft>
                <a:spcPts val="800"/>
              </a:spcAft>
              <a:defRPr sz="900" b="1">
                <a:solidFill>
                  <a:srgbClr val="EA580C"/>
                </a:solidFill>
              </a:defRPr>
            </a:pPr>
            <a:r>
              <a:t>Accelerating Viksit Bharat 2047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Slashes public infrastructure land acquisition cycle from 36 months to 4 months.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Reduces land acquisition civil litigation by an estimated 80%.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Ensures seamless delivery of PM GatiShakti National Master Plan corridor targets.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Creates conclusive, drone-verified state land titles under DILRMP.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71426"/>
          </a:solidFill>
          <a:ln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4059936" cy="54864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59936" y="1005840"/>
            <a:ext cx="4059936" cy="548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19872" y="1005840"/>
            <a:ext cx="4069080" cy="5486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DBA74"/>
                </a:solidFill>
              </a:defRPr>
            </a:pPr>
            <a:r>
              <a:t>SMART INDIA HACKATHON 2026 • PS ID: SIH26016 • TEAM: APEX • SLIDE 06/08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t>Research &amp; Prior Art — Comparative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68580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6583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71426"/>
                </a:solidFill>
              </a:defRPr>
            </a:pPr>
            <a:r>
              <a:t>Competitive Benchmark: Existing Portals vs NLAMS</a:t>
            </a:r>
          </a:p>
          <a:p>
            <a:pPr>
              <a:spcBef>
                <a:spcPts val="200"/>
              </a:spcBef>
              <a:defRPr sz="950">
                <a:solidFill>
                  <a:srgbClr val="071426"/>
                </a:solidFill>
                <a:latin typeface="JetBrains Mono"/>
              </a:defRPr>
            </a:pPr>
            <a:r>
              <a:t>Feature / Capability             | BhoomRaashi (MoRTH) | State RoRs (Bhulekh) | NLAMS (Team APEX)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JetBrains Mono"/>
              </a:defRPr>
            </a:pPr>
            <a:r>
              <a:t>1. Multi-Ministry Coverage       | NHAI Only          | Single State Only | Universal (NHAI, Rail, Power, State)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JetBrains Mono"/>
              </a:defRPr>
            </a:pPr>
            <a:r>
              <a:t>2. Cadastral GIS Polygons        | No (PDF Only)      | Tabular Only     | Live GeoJSON Vector Cadastre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JetBrains Mono"/>
              </a:defRPr>
            </a:pPr>
            <a:r>
              <a:t>3. ULPIN Auto-Encumbrance        | No                 | Manual           | Real-Time API Locking on Sec 11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JetBrains Mono"/>
              </a:defRPr>
            </a:pPr>
            <a:r>
              <a:t>4. Statutory First Schedule Math | Manual Entry       | N/A              | Automated Audited Evaluator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JetBrains Mono"/>
              </a:defRPr>
            </a:pPr>
            <a:r>
              <a:t>5. PFMS DBT ISO 20022            | Bank Deposit Float | Manual Voucher   | Automated Direct Bank Credit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JetBrains Mono"/>
              </a:defRPr>
            </a:pPr>
            <a:r>
              <a:t>6. AI Delay-Risk Predictor       | None               | None             | Scikit-Learn Random Forest Engine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  <a:latin typeface="JetBrains Mono"/>
              </a:defRPr>
            </a:pPr>
            <a:r>
              <a:t>7. R&amp;R 2nd/3rd Schedule          | Ignored            | Not Tracked      | Full PAF &amp; Civic Amenities Ledger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234440"/>
            <a:ext cx="3685032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37160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A580C"/>
                </a:solidFill>
              </a:defRPr>
            </a:pPr>
            <a:r>
              <a:t>Why Existing Systems Fail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Siloed Islands: BhoomRaashi only digitizes gazette drafting for highways, leaving valuation, disputes, and R&amp;R disconnected.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Manual Valuation Discretion: Manual rate calculations create massive discrepancies leading to high court litigation.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No Registry Synchronization: Landowners sell notified parcels to unsuspecting buyers because state land registries aren't locked automatically.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NLAMS solves all 4 failure points in a single sovereign platform.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71426"/>
          </a:solidFill>
          <a:ln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4059936" cy="54864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59936" y="1005840"/>
            <a:ext cx="4059936" cy="548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19872" y="1005840"/>
            <a:ext cx="4069080" cy="5486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DBA74"/>
                </a:solidFill>
              </a:defRPr>
            </a:pPr>
            <a:r>
              <a:t>SMART INDIA HACKATHON 2026 • PS ID: SIH26016 • TEAM: APEX • SLIDE 07/08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t>Potential Challenges &amp; Risks with Mitigations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5780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25880"/>
            <a:ext cx="49834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563EB"/>
                </a:solidFill>
              </a:defRPr>
            </a:pPr>
            <a:r>
              <a:t>1. Heterogeneous State Revenue Formats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Challenge: Different states use varying nomenclature (Khasra in UP, Gat in MH, Survey No in KA).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Mitigation: NLAMS implements a Unified Revenue Adapter layer normalizing all regional records into 14-digit ULPIN standards.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25780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325880"/>
            <a:ext cx="49834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EA580C"/>
                </a:solidFill>
              </a:defRPr>
            </a:pPr>
            <a:r>
              <a:t>2. Digital Divide in Rural Areas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Challenge: Smallholder farmers may lack digital literacy or smartphone access.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Mitigation: GIGW 3.0 accessibility standards, full Hindi/English bilingual UI, CSC (Common Service Center) kiosk mode, and zero-login ULPIN lookup.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5780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31920"/>
            <a:ext cx="49834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59669"/>
                </a:solidFill>
              </a:defRPr>
            </a:pPr>
            <a:r>
              <a:t>3. Title Disputes &amp; Co-parcenary Claims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Challenge: Multiple heirs claiming ownership on a single notified Khasra parcel.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Mitigation: Section 15 quasi-judicial objection tribunal with Section 77 escrow court deposit mechanisms to prevent corridor stalls.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840480"/>
            <a:ext cx="525780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3931920"/>
            <a:ext cx="49834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B91C1C"/>
                </a:solidFill>
              </a:defRPr>
            </a:pPr>
            <a:r>
              <a:t>4. Cybersecurity &amp; Record Tampering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Challenge: Threat of unauthorized alteration of compensation amounts or land boundaries.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</a:defRPr>
            </a:pPr>
            <a:r>
              <a:t>Mitigation: Class-3 DSC digital signatures, SHA-256 integrity logs, and read-only immutable audit trails.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71426"/>
          </a:solidFill>
          <a:ln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4059936" cy="54864"/>
          </a:xfrm>
          <a:prstGeom prst="rect">
            <a:avLst/>
          </a:prstGeom>
          <a:solidFill>
            <a:srgbClr val="EA580C"/>
          </a:solidFill>
          <a:ln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59936" y="1005840"/>
            <a:ext cx="4059936" cy="5486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19872" y="1005840"/>
            <a:ext cx="4069080" cy="54864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"/>
            <a:ext cx="107259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DBA74"/>
                </a:solidFill>
              </a:defRPr>
            </a:pPr>
            <a:r>
              <a:t>SMART INDIA HACKATHON 2026 • PS ID: SIH26016 • TEAM: APEX • SLIDE 08/08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t>Future Scope &amp; Roadmap — National Deployment 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34747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Phase 1: Working Prototype</a:t>
            </a:r>
          </a:p>
          <a:p>
            <a:pPr>
              <a:spcAft>
                <a:spcPts val="800"/>
              </a:spcAft>
              <a:defRPr sz="900" b="1">
                <a:solidFill>
                  <a:srgbClr val="059669"/>
                </a:solidFill>
              </a:defRPr>
            </a:pPr>
            <a:r>
              <a:t>Months 1 - 3 (Current SIH Stage)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8 core functional modules built and tested.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Tested across 4 real national corridors (Varanasi, Nagpur, Bengaluru Rural, Ludhiana).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Scikit-learn delay-risk predictor active.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34440"/>
            <a:ext cx="34747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3716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Phase 2: State RoR Pilot</a:t>
            </a:r>
          </a:p>
          <a:p>
            <a:pPr>
              <a:spcAft>
                <a:spcPts val="800"/>
              </a:spcAft>
              <a:defRPr sz="900" b="1">
                <a:solidFill>
                  <a:srgbClr val="2563EB"/>
                </a:solidFill>
              </a:defRPr>
            </a:pPr>
            <a:r>
              <a:t>Months 4 - 6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Live API pilot integration with UP Bhulekh and MahaBhulekh 7/12.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CALA Digital Tribunal rollout in 10 high-density infrastructure districts.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PFMS Aadhaar Payment Bridge (APBS) live settlement.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234440"/>
            <a:ext cx="3474720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7304" y="13716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71426"/>
                </a:solidFill>
              </a:defRPr>
            </a:pPr>
            <a:r>
              <a:t>Phase 3: National GatiShakti Scale</a:t>
            </a:r>
          </a:p>
          <a:p>
            <a:pPr>
              <a:spcAft>
                <a:spcPts val="800"/>
              </a:spcAft>
              <a:defRPr sz="900" b="1">
                <a:solidFill>
                  <a:srgbClr val="EA580C"/>
                </a:solidFill>
              </a:defRPr>
            </a:pPr>
            <a:r>
              <a:t>Months 7 - 12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Pan-India integration with PM GatiShakti NMP (BiSAG-N) platform.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Drone-based SVAMITVA high-resolution 3D parcel boundary integration.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Transition to Conclusive Land Titling with state-backed title guarantees under DILRMP.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725912" cy="1051560"/>
          </a:xfrm>
          <a:prstGeom prst="roundRect">
            <a:avLst/>
          </a:prstGeom>
          <a:solidFill>
            <a:srgbClr val="071426"/>
          </a:solidFill>
          <a:ln>
            <a:solidFill>
              <a:srgbClr val="071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DBA74"/>
                </a:solidFill>
              </a:defRPr>
            </a:pPr>
            <a:r>
              <a:t>TEAM APEX CONCLUSION — SMART INDIA HACKATHON 2026 (SIH26016)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</a:defRPr>
            </a:pPr>
            <a:r>
              <a:t>NLAMS delivers a sovereign, auditable digital infrastructure for India's public land acquisition—cutting timelines by 85%, eliminating 80% litigation, and protecting farmers' statutory rights under the Ministry of Rural Development (DoLR).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