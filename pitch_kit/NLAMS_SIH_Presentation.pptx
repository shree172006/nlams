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933"/>
          </a:solidFill>
          <a:ln>
            <a:solidFill>
              <a:srgbClr val="071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5912" cy="73152"/>
          </a:xfrm>
          <a:prstGeom prst="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591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DBA74"/>
                </a:solidFill>
              </a:defRPr>
            </a:pPr>
            <a:r>
              <a:t>DEPARTMENT OF LAND RESOURCES (DoLR) • MINISTRY OF RURAL DEVELOPMENT</a:t>
            </a:r>
          </a:p>
          <a:p>
            <a:pPr>
              <a:spcBef>
                <a:spcPts val="1400"/>
              </a:spcBef>
              <a:spcAft>
                <a:spcPts val="1400"/>
              </a:spcAft>
              <a:defRPr sz="3000" b="1">
                <a:solidFill>
                  <a:srgbClr val="FFFFFF"/>
                </a:solidFill>
              </a:defRPr>
            </a:pPr>
            <a:r>
              <a:t>NLAMS: Real-Time National Land Acquisition &amp; Management System</a:t>
            </a:r>
          </a:p>
          <a:p>
            <a:pPr>
              <a:defRPr sz="1500">
                <a:solidFill>
                  <a:srgbClr val="CBD5E1"/>
                </a:solidFill>
              </a:defRPr>
            </a:pPr>
            <a:r>
              <a:t>A Unified Statutory Microservice Platform Enforcing RFCTLARR Act 2013 &amp; Sector-Specific Infrastructure Acts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120640"/>
            <a:ext cx="10725912" cy="1005840"/>
          </a:xfrm>
          <a:prstGeom prst="roundRect">
            <a:avLst/>
          </a:prstGeom>
          <a:solidFill>
            <a:srgbClr val="0A2558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Team: Technical Lead | Girl 1 (Lead) | Girl 2 (Researcher) | Girl 3 (Pitcher) | Girl 4 (Frontend) | Boy 1 (DevOps)</a:t>
            </a:r>
          </a:p>
          <a:p>
            <a:pPr>
              <a:defRPr sz="1000">
                <a:solidFill>
                  <a:srgbClr val="93C5FD"/>
                </a:solidFill>
              </a:defRPr>
            </a:pPr>
            <a:r>
              <a:t>Core Standards: IndEA 2.0 • 14-Digit ULPIN (Bhu-Aadhaar) • PFMS Direct Benefit Transfer (DBT) • GIGW 3.0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71933"/>
          </a:solidFill>
          <a:ln>
            <a:solidFill>
              <a:srgbClr val="071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4059936" cy="54864"/>
          </a:xfrm>
          <a:prstGeom prst="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59936" y="1051560"/>
            <a:ext cx="4059936" cy="5486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19872" y="1051560"/>
            <a:ext cx="4069080" cy="54864"/>
          </a:xfrm>
          <a:prstGeom prst="rect">
            <a:avLst/>
          </a:prstGeom>
          <a:solidFill>
            <a:srgbClr val="0A7B3E"/>
          </a:solidFill>
          <a:ln>
            <a:solidFill>
              <a:srgbClr val="0A7B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DBA74"/>
                </a:solidFill>
              </a:defRPr>
            </a:pPr>
            <a:r>
              <a:t>STRATEGIC CONTEXT &amp; BOTTLENECKS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The Real Problem: Macroeconomic Crisis in Public Land Acquisition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EA580C"/>
                </a:solidFill>
              </a:defRPr>
            </a:pPr>
            <a:r>
              <a:t>01</a:t>
            </a:r>
          </a:p>
          <a:p>
            <a:pPr>
              <a:spcBef>
                <a:spcPts val="800"/>
              </a:spcBef>
              <a:spcAft>
                <a:spcPts val="1200"/>
              </a:spcAft>
              <a:defRPr sz="1600" b="1">
                <a:solidFill>
                  <a:srgbClr val="071933"/>
                </a:solidFill>
              </a:defRPr>
            </a:pPr>
            <a:r>
              <a:t>66% Civil Litigation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Over two-thirds of all pending civil suits in Indian courts are tied to land and property acquisition disputes, causing massive infrastructure gridlocks.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DC2626"/>
                </a:solidFill>
              </a:defRPr>
            </a:pPr>
            <a:r>
              <a:t>02</a:t>
            </a:r>
          </a:p>
          <a:p>
            <a:pPr>
              <a:spcBef>
                <a:spcPts val="800"/>
              </a:spcBef>
              <a:spcAft>
                <a:spcPts val="1200"/>
              </a:spcAft>
              <a:defRPr sz="1600" b="1">
                <a:solidFill>
                  <a:srgbClr val="071933"/>
                </a:solidFill>
              </a:defRPr>
            </a:pPr>
            <a:r>
              <a:t>20-Year Judicial Pendency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Contested land acquisition cases suffer an average delay of two decades, halting highways, freight corridors, and power transmission lines.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A2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A2558"/>
                </a:solidFill>
              </a:defRPr>
            </a:pPr>
            <a:r>
              <a:t>03</a:t>
            </a:r>
          </a:p>
          <a:p>
            <a:pPr>
              <a:spcBef>
                <a:spcPts val="800"/>
              </a:spcBef>
              <a:spcAft>
                <a:spcPts val="1200"/>
              </a:spcAft>
              <a:defRPr sz="1600" b="1">
                <a:solidFill>
                  <a:srgbClr val="071933"/>
                </a:solidFill>
              </a:defRPr>
            </a:pPr>
            <a:r>
              <a:t>1.3% GDP Macroeconomic Loss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Cumulative capital lock-in from stalled projects and uncoordinated inter-agency clearances costs the Indian economy over ₹ trillions annually.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71933"/>
          </a:solidFill>
          <a:ln>
            <a:solidFill>
              <a:srgbClr val="071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4059936" cy="54864"/>
          </a:xfrm>
          <a:prstGeom prst="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59936" y="1051560"/>
            <a:ext cx="4059936" cy="5486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19872" y="1051560"/>
            <a:ext cx="4069080" cy="54864"/>
          </a:xfrm>
          <a:prstGeom prst="rect">
            <a:avLst/>
          </a:prstGeom>
          <a:solidFill>
            <a:srgbClr val="0A7B3E"/>
          </a:solidFill>
          <a:ln>
            <a:solidFill>
              <a:srgbClr val="0A7B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DBA74"/>
                </a:solidFill>
              </a:defRPr>
            </a:pPr>
            <a:r>
              <a:t>ENTERPRISE ARCHITECTURE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The Solution: Unified NLAMS Microservice Platform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A2558"/>
                </a:solidFill>
              </a:defRPr>
            </a:pPr>
            <a:r>
              <a:t>1. Spatial Cadastral Ingestion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Ingests KML/GeoJSON alignments and intersects with cadastral maps using 14-digit ULPIN (Bhu-Aadhaar).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463040"/>
            <a:ext cx="51206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A2558"/>
                </a:solidFill>
              </a:defRPr>
            </a:pPr>
            <a:r>
              <a:t>2. 9-Stage Statutory Gatekeeper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Deterministic state machine enforcing RFCTLARR Act 2013 &amp; NH Act 1956 milestones with zero illegal skipping.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49039"/>
            <a:ext cx="51206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A2558"/>
                </a:solidFill>
              </a:defRPr>
            </a:pPr>
            <a:r>
              <a:t>3. First Schedule Valuation Engine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Automated math: Max(Circle, Sales) × Rural Factor + Assets + 100% Solatium + 12% Additional Amount.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749039"/>
            <a:ext cx="51206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A2558"/>
                </a:solidFill>
              </a:defRPr>
            </a:pPr>
            <a:r>
              <a:t>4. Direct PFMS DBT Settlement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Direct bank account credit to project-affected landholders, eliminating intermediate CALA holding account floats.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71933"/>
          </a:solidFill>
          <a:ln>
            <a:solidFill>
              <a:srgbClr val="071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4059936" cy="54864"/>
          </a:xfrm>
          <a:prstGeom prst="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59936" y="1051560"/>
            <a:ext cx="4059936" cy="5486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19872" y="1051560"/>
            <a:ext cx="4069080" cy="54864"/>
          </a:xfrm>
          <a:prstGeom prst="rect">
            <a:avLst/>
          </a:prstGeom>
          <a:solidFill>
            <a:srgbClr val="0A7B3E"/>
          </a:solidFill>
          <a:ln>
            <a:solidFill>
              <a:srgbClr val="0A7B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DBA74"/>
                </a:solidFill>
              </a:defRPr>
            </a:pPr>
            <a:r>
              <a:t>LIFECYCLE ENGINEERING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Deterministic 9-Stage Statutory Gatekeeper Workflow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832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0A2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EA580C"/>
                </a:solidFill>
              </a:defRPr>
            </a:pPr>
            <a:r>
              <a:t>STAGE 01</a:t>
            </a:r>
          </a:p>
          <a:p>
            <a:pPr>
              <a:defRPr sz="1100" b="1">
                <a:solidFill>
                  <a:srgbClr val="071933"/>
                </a:solidFill>
              </a:defRPr>
            </a:pPr>
            <a:r>
              <a:t>1. Proposal &amp; Alignment (Sec 4 / 3A)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0A2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EA580C"/>
                </a:solidFill>
              </a:defRPr>
            </a:pPr>
            <a:r>
              <a:t>STAGE 02</a:t>
            </a:r>
          </a:p>
          <a:p>
            <a:pPr>
              <a:defRPr sz="1100" b="1">
                <a:solidFill>
                  <a:srgbClr val="071933"/>
                </a:solidFill>
              </a:defRPr>
            </a:pPr>
            <a:r>
              <a:t>2. Social Impact Assessment (SIA)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EA580C"/>
                </a:solidFill>
              </a:defRPr>
            </a:pPr>
            <a:r>
              <a:t>STAGE 03</a:t>
            </a:r>
          </a:p>
          <a:p>
            <a:pPr>
              <a:defRPr sz="1100" b="1">
                <a:solidFill>
                  <a:srgbClr val="071933"/>
                </a:solidFill>
              </a:defRPr>
            </a:pPr>
            <a:r>
              <a:t>3. Preliminary Gazette &amp; ULPIN Lock (Sec 11)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17520"/>
            <a:ext cx="33832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0A2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EA580C"/>
                </a:solidFill>
              </a:defRPr>
            </a:pPr>
            <a:r>
              <a:t>STAGE 04</a:t>
            </a:r>
          </a:p>
          <a:p>
            <a:pPr>
              <a:defRPr sz="1100" b="1">
                <a:solidFill>
                  <a:srgbClr val="071933"/>
                </a:solidFill>
              </a:defRPr>
            </a:pPr>
            <a:r>
              <a:t>4. Objection Management &amp; Inquiry (Sec 15)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3017520"/>
            <a:ext cx="33832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0A2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EA580C"/>
                </a:solidFill>
              </a:defRPr>
            </a:pPr>
            <a:r>
              <a:t>STAGE 05</a:t>
            </a:r>
          </a:p>
          <a:p>
            <a:pPr>
              <a:defRPr sz="1100" b="1">
                <a:solidFill>
                  <a:srgbClr val="071933"/>
                </a:solidFill>
              </a:defRPr>
            </a:pPr>
            <a:r>
              <a:t>5. Final Declaration of Acquisition (Sec 19)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017520"/>
            <a:ext cx="33832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EA580C"/>
                </a:solidFill>
              </a:defRPr>
            </a:pPr>
            <a:r>
              <a:t>STAGE 06</a:t>
            </a:r>
          </a:p>
          <a:p>
            <a:pPr>
              <a:defRPr sz="1100" b="1">
                <a:solidFill>
                  <a:srgbClr val="071933"/>
                </a:solidFill>
              </a:defRPr>
            </a:pPr>
            <a:r>
              <a:t>6. First Schedule Award &amp; PFMS DBT (Sec 23)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72000"/>
            <a:ext cx="33832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0A2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EA580C"/>
                </a:solidFill>
              </a:defRPr>
            </a:pPr>
            <a:r>
              <a:t>STAGE 07</a:t>
            </a:r>
          </a:p>
          <a:p>
            <a:pPr>
              <a:defRPr sz="1100" b="1">
                <a:solidFill>
                  <a:srgbClr val="071933"/>
                </a:solidFill>
              </a:defRPr>
            </a:pPr>
            <a:r>
              <a:t>7. R&amp;R Schedules II &amp; III Execution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4572000"/>
            <a:ext cx="33832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EA580C"/>
                </a:solidFill>
              </a:defRPr>
            </a:pPr>
            <a:r>
              <a:t>STAGE 08</a:t>
            </a:r>
          </a:p>
          <a:p>
            <a:pPr>
              <a:defRPr sz="1100" b="1">
                <a:solidFill>
                  <a:srgbClr val="071933"/>
                </a:solidFill>
              </a:defRPr>
            </a:pPr>
            <a:r>
              <a:t>8. Physical Possession &amp; RoR Mutation (Sec 38)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4572000"/>
            <a:ext cx="33832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0A2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EA580C"/>
                </a:solidFill>
              </a:defRPr>
            </a:pPr>
            <a:r>
              <a:t>STAGE 09</a:t>
            </a:r>
          </a:p>
          <a:p>
            <a:pPr>
              <a:defRPr sz="1100" b="1">
                <a:solidFill>
                  <a:srgbClr val="071933"/>
                </a:solidFill>
              </a:defRPr>
            </a:pPr>
            <a:r>
              <a:t>9. Dispute Reference Sync with e-Courts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71933"/>
          </a:solidFill>
          <a:ln>
            <a:solidFill>
              <a:srgbClr val="071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4059936" cy="54864"/>
          </a:xfrm>
          <a:prstGeom prst="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59936" y="1051560"/>
            <a:ext cx="4059936" cy="5486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19872" y="1051560"/>
            <a:ext cx="4069080" cy="54864"/>
          </a:xfrm>
          <a:prstGeom prst="rect">
            <a:avLst/>
          </a:prstGeom>
          <a:solidFill>
            <a:srgbClr val="0A7B3E"/>
          </a:solidFill>
          <a:ln>
            <a:solidFill>
              <a:srgbClr val="0A7B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DBA74"/>
                </a:solidFill>
              </a:defRPr>
            </a:pPr>
            <a:r>
              <a:t>MATHEMATICAL FORMULATION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First Schedule Algorithmic Compensation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725912" cy="4480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A7B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A7B3E"/>
                </a:solidFill>
              </a:defRPr>
            </a:pPr>
            <a:r>
              <a:t>STATUTORY MATHEMATICAL FORMULA (RFCTLARR ACT 2013 SEC 26-30):</a:t>
            </a:r>
          </a:p>
          <a:p>
            <a:pPr>
              <a:spcBef>
                <a:spcPts val="800"/>
              </a:spcBef>
              <a:defRPr sz="1600" b="1">
                <a:solidFill>
                  <a:srgbClr val="071933"/>
                </a:solidFill>
              </a:defRPr>
            </a:pPr>
            <a:r>
              <a:t>Gross Total Award = Base Compensation (C_Base) + 100% Solatium + 12% p.a. Additional Amount</a:t>
            </a:r>
          </a:p>
          <a:p>
            <a:pPr>
              <a:spcBef>
                <a:spcPts val="400"/>
              </a:spcBef>
              <a:defRPr sz="1150">
                <a:solidFill>
                  <a:srgbClr val="64748B"/>
                </a:solidFill>
              </a:defRPr>
            </a:pPr>
            <a:r>
              <a:t>• 1. Base Unit Market Value (Sec 26): Max(Stamp Act Circle Rate, Top 50% 3-Year Registered Sale Deeds, Consented PPP Rate)</a:t>
            </a:r>
          </a:p>
          <a:p>
            <a:pPr>
              <a:spcBef>
                <a:spcPts val="400"/>
              </a:spcBef>
              <a:defRPr sz="1150">
                <a:solidFill>
                  <a:srgbClr val="64748B"/>
                </a:solidFill>
              </a:defRPr>
            </a:pPr>
            <a:r>
              <a:t>• 2. Multiplication Factor (Sec 26(2)): Urban = 1.0x | Rural 0-10 km = 1.25x | Rural 10-20 km = 1.50x | Rural &gt;20 km = 2.00x</a:t>
            </a:r>
          </a:p>
          <a:p>
            <a:pPr>
              <a:spcBef>
                <a:spcPts val="400"/>
              </a:spcBef>
              <a:defRPr sz="1150">
                <a:solidFill>
                  <a:srgbClr val="64748B"/>
                </a:solidFill>
              </a:defRPr>
            </a:pPr>
            <a:r>
              <a:t>• 3. Attached Assets (Sec 29): Structural Valuation + Standing Timber/Trees + Crop Yield Valuation</a:t>
            </a:r>
          </a:p>
          <a:p>
            <a:pPr>
              <a:spcBef>
                <a:spcPts val="400"/>
              </a:spcBef>
              <a:defRPr sz="1150">
                <a:solidFill>
                  <a:srgbClr val="64748B"/>
                </a:solidFill>
              </a:defRPr>
            </a:pPr>
            <a:r>
              <a:t>• 4. Base Compensation (C_Base): (Base Unit Market Value × Area × Multiplication Factor) + Assets Valuation</a:t>
            </a:r>
          </a:p>
          <a:p>
            <a:pPr>
              <a:spcBef>
                <a:spcPts val="400"/>
              </a:spcBef>
              <a:defRPr sz="1150">
                <a:solidFill>
                  <a:srgbClr val="64748B"/>
                </a:solidFill>
              </a:defRPr>
            </a:pPr>
            <a:r>
              <a:t>• 5. Mandatory Solatium (Sec 30(1)): 100% of Base Compensation (C_Base)</a:t>
            </a:r>
          </a:p>
          <a:p>
            <a:pPr>
              <a:spcBef>
                <a:spcPts val="400"/>
              </a:spcBef>
              <a:defRPr sz="1150">
                <a:solidFill>
                  <a:srgbClr val="64748B"/>
                </a:solidFill>
              </a:defRPr>
            </a:pPr>
            <a:r>
              <a:t>• 6. Additional Amount (Sec 30(3)): 12% per annum on Base Market Value from Sec 11 Notification Date to Award Date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71933"/>
          </a:solidFill>
          <a:ln>
            <a:solidFill>
              <a:srgbClr val="071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4059936" cy="54864"/>
          </a:xfrm>
          <a:prstGeom prst="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59936" y="1051560"/>
            <a:ext cx="4059936" cy="5486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19872" y="1051560"/>
            <a:ext cx="4069080" cy="54864"/>
          </a:xfrm>
          <a:prstGeom prst="rect">
            <a:avLst/>
          </a:prstGeom>
          <a:solidFill>
            <a:srgbClr val="0A7B3E"/>
          </a:solidFill>
          <a:ln>
            <a:solidFill>
              <a:srgbClr val="0A7B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DBA74"/>
                </a:solidFill>
              </a:defRPr>
            </a:pPr>
            <a:r>
              <a:t>SPATIAL FUSION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14-Digit ULPIN (Bhu-Aadhaar) &amp; State Land Record Sync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A2558"/>
                </a:solidFill>
              </a:defRPr>
            </a:pPr>
            <a:r>
              <a:t>ULPIN Encumbrance Locking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• Automatic ULPIN Generation: 14-digit alphanumeric code generated for every surveyed cadastral parcel.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• Section 11 Webhook Freezing: The moment CALA publishes preliminary notice, an API call locks the parcel in State Land Registries.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• Stops Fraudulent Sales: Completely prevents distress sales or illegal constructions to claim inflated compensation.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• Split Corridor Strips: Parent ULPIN subdivided into new child ULPIN for acquired Right-of-Way.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A2558"/>
                </a:solidFill>
              </a:defRPr>
            </a:pPr>
            <a:r>
              <a:t>Pan-India Revenue Nomenclature Normalization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• Uttar Pradesh / MP / Delhi: Khasra / Khatauni (Bhulekh)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• Maharashtra / Gujarat: 7/12 &amp; 8A Extract (Mahabhulekh)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• Karnataka: RTC (Pahani) / Bhoomi Mutation Extract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• Tamil Nadu / Andhra Pradesh: Patta / Chitta (Meebhoomi)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• Punjab / Haryana: Jamabandi / Khasra Girdawari (Fard)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71933"/>
          </a:solidFill>
          <a:ln>
            <a:solidFill>
              <a:srgbClr val="071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4059936" cy="54864"/>
          </a:xfrm>
          <a:prstGeom prst="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59936" y="1051560"/>
            <a:ext cx="4059936" cy="5486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19872" y="1051560"/>
            <a:ext cx="4069080" cy="54864"/>
          </a:xfrm>
          <a:prstGeom prst="rect">
            <a:avLst/>
          </a:prstGeom>
          <a:solidFill>
            <a:srgbClr val="0A7B3E"/>
          </a:solidFill>
          <a:ln>
            <a:solidFill>
              <a:srgbClr val="0A7B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DBA74"/>
                </a:solidFill>
              </a:defRPr>
            </a:pPr>
            <a:r>
              <a:t>ACCOUNTABILITY &amp; BENCHMARKING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140-Point Vikas Performance Scoring Matrix (DoLR)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256032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A580C"/>
                </a:solidFill>
              </a:defRPr>
            </a:pPr>
            <a:r>
              <a:t>Process Velocity (40 Pts)</a:t>
            </a:r>
          </a:p>
          <a:p>
            <a:pPr>
              <a:spcBef>
                <a:spcPts val="1000"/>
              </a:spcBef>
              <a:defRPr sz="1100">
                <a:solidFill>
                  <a:srgbClr val="64748B"/>
                </a:solidFill>
              </a:defRPr>
            </a:pPr>
            <a:r>
              <a:t>Measures adherence to statutory stage-gate timelines from proposal to physical possession.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463040"/>
            <a:ext cx="256032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A7B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A7B3E"/>
                </a:solidFill>
              </a:defRPr>
            </a:pPr>
            <a:r>
              <a:t>Financial &amp; DBT (40 Pts)</a:t>
            </a:r>
          </a:p>
          <a:p>
            <a:pPr>
              <a:spcBef>
                <a:spcPts val="1000"/>
              </a:spcBef>
              <a:defRPr sz="1100">
                <a:solidFill>
                  <a:srgbClr val="64748B"/>
                </a:solidFill>
              </a:defRPr>
            </a:pPr>
            <a:r>
              <a:t>Evaluates % of compensation paid directly via PFMS DBT; penalizes idle CALA holding account balances.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463040"/>
            <a:ext cx="256032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A2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A2558"/>
                </a:solidFill>
              </a:defRPr>
            </a:pPr>
            <a:r>
              <a:t>Social &amp; R&amp;R (40 Pts)</a:t>
            </a:r>
          </a:p>
          <a:p>
            <a:pPr>
              <a:spcBef>
                <a:spcPts val="1000"/>
              </a:spcBef>
              <a:defRPr sz="1100">
                <a:solidFill>
                  <a:srgbClr val="64748B"/>
                </a:solidFill>
              </a:defRPr>
            </a:pPr>
            <a:r>
              <a:t>Tracks execution of 11 Second Schedule monetary entitlements and 25 Third Schedule civic amenities.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463040"/>
            <a:ext cx="256032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7C3AED"/>
                </a:solidFill>
              </a:defRPr>
            </a:pPr>
            <a:r>
              <a:t>Spatial &amp; Mutation (20 Pts)</a:t>
            </a:r>
          </a:p>
          <a:p>
            <a:pPr>
              <a:spcBef>
                <a:spcPts val="1000"/>
              </a:spcBef>
              <a:defRPr sz="1100">
                <a:solidFill>
                  <a:srgbClr val="64748B"/>
                </a:solidFill>
              </a:defRPr>
            </a:pPr>
            <a:r>
              <a:t>Scores % of parcels assigned 14-digit ULPINs and revenue record mutations within 30 days of possession.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71933"/>
          </a:solidFill>
          <a:ln>
            <a:solidFill>
              <a:srgbClr val="071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4059936" cy="54864"/>
          </a:xfrm>
          <a:prstGeom prst="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59936" y="1051560"/>
            <a:ext cx="4059936" cy="5486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19872" y="1051560"/>
            <a:ext cx="4069080" cy="54864"/>
          </a:xfrm>
          <a:prstGeom prst="rect">
            <a:avLst/>
          </a:prstGeom>
          <a:solidFill>
            <a:srgbClr val="0A7B3E"/>
          </a:solidFill>
          <a:ln>
            <a:solidFill>
              <a:srgbClr val="0A7B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DBA74"/>
                </a:solidFill>
              </a:defRPr>
            </a:pPr>
            <a:r>
              <a:t>COMPLIANCE &amp; LEGAL RIGOR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Key Judge Q&amp;A Defenses (Pitcher Strategy)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725912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A2558"/>
                </a:solidFill>
              </a:defRPr>
            </a:pPr>
            <a:r>
              <a:t>Q: Land is a State subject. How does a Central portal force compliance?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A: RFCTLARR Act 2013 is under Concurrent List (Entry 42). Central agencies fund 100% of compensation. NLAMS integrates with state land portals via open APIs and incentivizes states via 140-Point Vikas Scores.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17520"/>
            <a:ext cx="10725912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A2558"/>
                </a:solidFill>
              </a:defRPr>
            </a:pPr>
            <a:r>
              <a:t>Q: How does NLAMS eliminate financial corruption?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A: PFMS Direct Benefit Transfer (DBT) routes funds directly from Central Ministry accounts to verified landholder bank accounts via Aadhaar Payment Bridge (APBS), eliminating intermediate CALA bank floats.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572000"/>
            <a:ext cx="10725912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A2558"/>
                </a:solidFill>
              </a:defRPr>
            </a:pPr>
            <a:r>
              <a:t>Q: How do you handle title disputes without stalling national projects?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A: Section 64 reference mechanism deposits disputed funds into Civil Court / LARR Authority escrow, allowing physical possession (Sec 38) to proceed without delaying national corridor construction.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933"/>
          </a:solidFill>
          <a:ln>
            <a:solidFill>
              <a:srgbClr val="071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59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DBA74"/>
                </a:solidFill>
              </a:defRPr>
            </a:pPr>
            <a:r>
              <a:t>TRANSFORMING INDIA'S INFRASTRUCTURE GOVERNANCE</a:t>
            </a:r>
          </a:p>
          <a:p>
            <a:pPr>
              <a:spcBef>
                <a:spcPts val="1000"/>
              </a:spcBef>
              <a:defRPr sz="2800" b="1">
                <a:solidFill>
                  <a:srgbClr val="FFFFFF"/>
                </a:solidFill>
              </a:defRPr>
            </a:pPr>
            <a:r>
              <a:t>NLAMS: Transparent, Accountable &amp; Conclusive Land Administration</a:t>
            </a:r>
          </a:p>
          <a:p>
            <a:pPr>
              <a:spcBef>
                <a:spcPts val="2000"/>
              </a:spcBef>
              <a:defRPr sz="1500">
                <a:solidFill>
                  <a:srgbClr val="CBD5E1"/>
                </a:solidFill>
              </a:defRPr>
            </a:pPr>
            <a:r>
              <a:t>• Cycle Time Reduction: 36 months down to 4 months for complete statutory clearance</a:t>
            </a:r>
            <a:br/>
            <a:r>
              <a:t>• Litigation Drop: 80% decrease in land valuation disputes due to mathematical transparency</a:t>
            </a:r>
            <a:br/>
            <a:r>
              <a:t>• Fiscal Security: Eliminates ₹ thousands of crores in idle CALA deposit floats</a:t>
            </a:r>
            <a:br/>
            <a:r>
              <a:t>• Conclusive Titling: Accelerates India's transition to state-guaranteed titles under DILRMP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