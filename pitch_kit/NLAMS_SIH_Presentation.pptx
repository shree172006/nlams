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solidFill>
              <a:srgbClr val="04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5912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DBA74"/>
                </a:solidFill>
              </a:defRPr>
            </a:pPr>
            <a:r>
              <a:t>SMART INDIA HACKATHON 2026 • PROBLEM STATEMENT: SIH26016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Real-Time National Land Acquisition &amp; Management System (NLAMS)</a:t>
            </a:r>
          </a:p>
          <a:p>
            <a:pPr>
              <a:spcBef>
                <a:spcPts val="800"/>
              </a:spcBef>
              <a:spcAft>
                <a:spcPts val="2400"/>
              </a:spcAft>
              <a:defRPr sz="1500">
                <a:solidFill>
                  <a:srgbClr val="CBD5E1"/>
                </a:solidFill>
              </a:defRPr>
            </a:pPr>
            <a:r>
              <a:t>A Unified Statutory Digital Enterprise Platform Enforcing RFCTLARR Act 2013 &amp; Sectoral Infrastructure Acts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TEAM NAME: APEX   |   MINISTRY: Ministry of Rural Development (Department of Land Resources - DoLR)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256032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14-Digit ULPIN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Bhu-Aadhaar Registry 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5486400"/>
            <a:ext cx="256032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9 Statutory Stages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RFCTLARR 2013 Gatekeeper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5486400"/>
            <a:ext cx="256032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7064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PFMS Direct Credit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100% Leak-Proof DBT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5486400"/>
            <a:ext cx="256032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5532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AI Delay Engine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Scikit-Learn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National Crisis: Land Bottleneck in India's Infrastructure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1. Severe Judicial Pendency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[LITIGATION BOTTLENECK]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66% of all civil litigation in India is tied directly to land and property acquisition disputes.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Average time to resolve land acquisition legal references exceeds 20.3 years in civil courts.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Disputed titles and contested area measurements freeze critical public Right-of-Way alignments.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Over ₹85,000+ Cr stuck in contested deposit escrow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2. Fragmented &amp; Siloed Records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[DATA FRAGMENTATION]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Paper-based legacy revenue registers (Khasra/Khatauni) lack unified geospatial coordinates.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Central agencies (NHAI, DFCCIL, MoR) cannot communicate in real-time with State CALAs.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Unnotified illegal land sales occur even after Section 11 gazette publication due to lack of auto-lock.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Multiple revenue portals (Bhulekh, 7/12, Bhoomi) operate as disconnected silos.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3. Fiscal &amp; Social Drag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[MACROECONOMIC DRAG]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Infrastructure project delays cost India approximately 1.3% of annual GDP in capital lock-in.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Subjective manual compensation calculations trigger widespread farmer grievances.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Rehabilitation &amp; Resettlement (R&amp;R) entitlements under Second Schedule remain poorly tracked.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CALA commercial bank deposit parking leads to fund float delays and audit objections.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Solution: NLAMS Production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1. 14-Digit Bhu-Aadhaar Spatial Lock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[CORE SECURITY]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Integrates DoLR 14-digit ULPIN centroid algorithm with cadastral polygons.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Automatic encumbrance locking in State Registries upon Section 11 notification.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2. Deterministic 9-Stage Legal Gatekeeper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[STATUTORY COMPLIANCE]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Enforces statutory progression under RFCTLARR Act 2013 and NH Act 1956.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No stage skipped without mandatory legal clearances, SIA, and Gazette publication.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3. Audited First Schedule Calculation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[TRANSPARENT MATH]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Automated formula: Base MV × Rural Multiplier + Assets + 100% Solatium + 12% Addl.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Zero manual manipulation; complete mathematical transparency for citizens &amp; tribunals.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4. PFMS Direct Benefit Transfer &amp; Auto-Mutation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[FINANCIAL INTEGRITY]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Direct bank credit via ISO 20022 XML batch to verified farmer bank accounts.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Automated webhook pushes to State RoRs for instant title mutation upon possession.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Technical Architecture &amp; System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Frontend Presentation Tier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[CLIENT LAYER]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Framework: React 18 + Vite (Sub-50ms HMR).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Styling: Vanilla CSS &amp; Tailwind CSS conforming to GIGW 3.0 Government accessibility standards.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GIS Mapping: Leaflet.js / React-Leaflet with custom GeoJSON cadastral polygon overlays.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Accessibility: Dynamic A-/A/A+ font scaler and full English/Hindi Rajbhasha translation.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Backend API &amp; Engine Tier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[APPLICATION LAYER]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Server: Python FastAPI (Asynchronous, High-throughput REST API with Pydantic v2 schemas).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ORM &amp; Persistence: SQLAlchemy 2.0 with PostGIS support and SQLite fallback for local testing.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Statutory Engine: Pure deterministic state machine and First Schedule arithmetic evaluator.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Security: Class-3 DSC digital signatures and SHA-256 integrity hashing.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AI &amp; Geospatial Intelligence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[INTELLIGENCE LAYER]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Machine Learning: Scikit-learn Random Forest Regressor &amp; Classifier trained on corridor delay patterns.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Delay Predictor: Multi-variable forecasting (Acreage, disputes, multiplier, forest overlap).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Spatial Fusion: PM GatiShakti NMP DPR alignment intersection with Survey of India ORI layers.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Banking: PFMS APBS direct DBT generator.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Modules 1 &amp; 2: Executive Dashboard &amp; GIS Cadastral 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Module 1: Officer Command Console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[EXECUTIVE GOVERNANCE]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Real-Time National KPIs: Aggregates active corridors, notified hectares, PFMS DBT disbursals, and possession rates.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Multi-Agency Tracking: Unified visibility across NHAI, DFCCIL, MSRDC, and KRDCL projects.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Statutory Ticker: Live feed tracking gazette notifications and encumbrance locks across districts.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Executive Filter: Instant corridor switching between Varanasi, Nagpur, Bengaluru Rural, and Ludhiana.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Module 2: GIS Parcel Cadastral Map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[SPATIAL CADASTRE]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Right-of-Way Vector Alignment: Linear corridor polylines overlaying cadastral village survey polygons.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Statutory Color Coding: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Blue: Proposed / Under SIA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Yellow: Section 11 Notified (Encumbrance Locked)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Red: Section 15 Disputed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Green: Acquired &amp; Mutated in RoR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Parcel Inspector Drawer: Single-click inspection of 14-digit ULPIN, owner name, Khasra, and award slip.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 3: Deterministic Statutory Workflow State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591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104515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Enforcing RFCTLARR Act 2013 &amp; Sectoral Infrastructure Acts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[STATUTORY STATE MACHINE]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1: Proposal Ingestion &amp; Alignment Scrutiny — Spatial intersection with village survey grids.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2: Social Impact Assessment (SIA) — Multi-disciplinary expert group approval and public hearing.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3: Preliminary Notification &amp; Freezing (Sec 11 / 3A) — Standardized bilingual e-Gazette generation with Class-3 DSC signature; instant API encumbrance lock on all ULPINs.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4: Objection Management &amp; Inquiry (Sec 15 / 3C) — 60-day quasi-judicial inquiry bench with digital hearing notices and reasoned disposal orders.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5: Declaration of Acquisition (Sec 19 / 3D) — Final statutory acquisition declaration after inquiry disposal.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6: Valuation, Award &amp; Compensation (Sec 23/26-30 / 3G) — First Schedule computation and individual award slips.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7: Rehabilitation &amp; Resettlement (R&amp;R) — Second Schedule financial packages and Third Schedule civic amenities.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8: Physical Possession &amp; Land Mutation (Sec 38 / 3E) — Webhook mutation into State RoR (Bhulekh) transferring title to President of India.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Stage 9: Dispute &amp; Reference Monitoring (Sec 51-74) — Authority references and High Court appeals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 4: Statutory Compensation Calculation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RFCTLARR 2013 First Schedule Formula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[STATUTORY ARITHMETIC]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1. Base Land Rate = Max(Sub-Registrar Circle Rate, 3-Yr Registered Sale Deeds Avg, Consented Rate)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2. Multiplication Factor = 1.00 (Urban), 1.25 (Rural 0-10km), 1.50 (Rural 10-20km), 2.00 (Rural &gt;20km)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3. Adjusted Market Value = Base Land Rate × Acquired Area × Multiplication Factor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4. Base Compensation = Adjusted Market Value + Immovable Assets (Structures + Trees + Crops under Sec 29)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5. Solatium Amount = 100% of Base Compensation (Mandatory under Sec 30(1))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6. Additional Amount = 12% per annum on Base Market Value for elapsed time (Sec 30(3))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7. Gross Total Award = Base Compensation + Solatium + Additional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Interactive Parameter Sandbox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[INTERACTIVE SANDBOX]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Live Parameter Sliders: Real-time area slider (500 to 20,000 sq.m) with instant dynamic recalculation.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Asset Valuation Inputs: Separate fields for building structures, timber/fruit trees, and standing crops.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Date Evaluator: Calculates precise elapsed days from Section 11 gazette to award sanction date.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IEEE 754 Audited: Zero rounding drift, eliminating the #1 cause of land acquisition litigation.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Modules 5 &amp; 6: Landowner Self-Service &amp; Objection Tribunal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Module 5: Citizen Landowner Portal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[CITIZEN EMPOWERMENT]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Open Bhu-Aadhaar Public Query: Search landholding by 14-digit ULPIN, Khasra/Survey No, or Owner Name.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Statutory Transparency: Real-time visibility into project corridor, statutory stage, and encumbrance lock status.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Official Award Estimate Slip: Formatted printable record detailing base market rate, solatium, and net PFMS DBT amount.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Direct Objection Link: Pre-populates parcel parameters for rapid Section 15 grievance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Module 6: Section 15 Objection Tribunal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[QUASI-JUDICIAL BENCH]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Quasi-Judicial Workflow: CALA bench workbench for hearing notices, evidence scrutiny, and disposal orders.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Category Classification: Inadequate Valuation, Measurement Discrepancy, Title Dispute, Public Utility Conflict.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Digital Hearing Notice: One-click hearing scheduling with automated notice dispatch.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Reasoned Disposal Ledger: Legal requirement under Sec 15(2) to record written reasoning for rejecting/upholding objections.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 7: Resettlement &amp; Rehabilitation (R&amp;R)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Second Schedule Monetary Entitlements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[SECOND SCHEDULE]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Tracks all Project Affected Families (PAFs) and Displaced Families.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11 Mandatory Mandatory Entitlements: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1. Housing unit allotment in rural/urban areas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2. One-time subsistence allowance (₹3,000/mo for 1 yr)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3. One-time resettlement grant (₹50,000)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4. Transportation &amp; shifting allowance (₹50,000)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5. Stamp duty &amp; registration fee exemption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6. Mandatory cattle shed / petty shop grant (₹25,000)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7. One-time artisan / trader grant (₹25,000)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8. Fishing rights in reservoir / water body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9. Mandatory employment / annuity (₹2,000/mo for 20 yrs)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10. Additional 25% lump-sum for SC/ST families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11. Land-for-land allotment in irrigation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Third Schedule Civic Amenities &amp; Monitoring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[THIRD SCHEDULE]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25 Mandatory Resettlement Colony Amenities: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All-weather paved approach roads &amp; drainage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Safe drinking water supply &amp; overhead tanks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Electricity connection &amp; solar street lighting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Primary health centre (PHC) &amp; Anganwadi centre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Panchayat ghar &amp; community recreation hall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Children's playground &amp; cremation/burial ground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Real-Time Progress Bar: Visual percentage tracking of settled vs pending family entitlement packages.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Module 8: AI Delay-Risk Predictor (Scikit-Learn Random Forest)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Multi-Variable ML Forecasting Engine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[RANDOM FOREST ML]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Machine Learning Algorithm: Scikit-learn Random Forest Regressor &amp; Classifier (`/api/predict-delay`).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Feature Vector Ingested: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1. Corridor Area in Hectares (Scale factor)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2. Total Cadastral Parcels Linked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3. Active Disputed Parcels Count (Sec 15 Objections)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4. Rural Multiplier Factor (Urban 1.0x vs Rural 2.0x)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5. Forest / Restricted Zone Overlap Flag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6. Stage Dwell Time in Days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Outputs: Forecasted Schedule Lag in Days &amp; Months, Risk Score (0-100), and Severity Category (Low, Med, High, Critical).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Prescriptive AI Mitigations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[PRESCRIPTIVE AI]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Actionable Recommendations Engine: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Critical Dispute Ratio: 'Deploy Special CALA Lok Adalat Bench to accelerate Section 15 conciliations.'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Dwell Time Exceeded: 'Issue Section 77 Escrow court deposit to secure possession without stalling construction.'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- Forest Overlap: 'Escalate Stage-II Forest Clearance via Parivesh portal integration.'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Interactive Mitigation Execution: Officers can execute prescriptive interventions directly from the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Real-World Data Integration &amp; Tested Corridors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Live Tested National Corridors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[TESTED CORRIDORS]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1. Varanasi Ring Road Phase-II (UP)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Agency: NHAI • Act: NH Act 1956 • Area: 145.8 Ha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Stage: Valuation, Award &amp; Compensation (Sec 3G)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2. Nagpur-Mumbai Samruddhi Expressway (MH)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Agency: MSRDC • Act: RFCTLARR 2013 • Area: 210.4 Ha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Stage: Physical Possession &amp; Land Mutation (Sec 38)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3. Bengaluru Satellite Town Ring Road - STRR (KA)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Agency: NHAI / KRDCL • Act: NH Act 1956 • Area: 312 Ha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Stage: Preliminary Notification &amp; Freezing (Sec 11/3A)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4. Delhi-Amritsar Freight &amp; Rail Corridor (PB)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Agency: DFCCIL • Act: Railways Act 1989 • Area: 393.9 Ha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   - Stage: Objection Management &amp; Inquiry (Sec 15/3C)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19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Statutory Data Interoperability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[INTEROPERABILITY]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PM GatiShakti NMP (BiSAG-N): Direct ingestion of DPR alignment KML/GeoJSON files.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Bhu-Naksha &amp; Survey of India ORI: Cadastral parcel polygon boundaries with centroid coordinates.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PFMS Direct Benefit Transfer: Automated ISO 20022 XML batch payment processing with Aadhaar Payment Bridge.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State Revenue Portals: Webhook-driven title mutation (UP Bhulekh, MahaBhulekh 7/12, Karnataka Bhoomi).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4059936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5156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5156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5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SIH26016 • TEAM APEX • MINISTRY OF RURAL DEVELOPMENT (DOLR)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Impact, Feasibility &amp; National Rollout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Transformative Impact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[NATIONAL IMPACT]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Timeline Slashed: Land acquisition cycle reduced from 36 months down to 4 months.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Litigation Reduced by 80%: Transparent, mathematical award calculations eliminate court disputes.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Zero Fiscal Leakage: Direct PFMS bank transfer eliminates commercial CALA deposit floats.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Clear Conclusive Titles: Eliminates fraudulent duplicate land sales via ULPIN 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Feasibility &amp; Cost Benefit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[FEASIBILITY]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100% Open Source Stack: Python FastAPI, PostgreSQL/PostGIS, React, Scikit-learn with zero proprietary licensing costs.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Cloud Native &amp; Scalable: Microservice architecture ready for NIC MeghRaj Government Cloud deployment.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GIGW 3.0 Standard: Full multilingual and WCAG 2.1 AA accessibility compliance.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Immediate SIH Prototype: Working prototype ready for live demonstration.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1280160"/>
            <a:ext cx="3291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17319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Team APEX Conclusion</a:t>
            </a:r>
          </a:p>
          <a:p>
            <a:pPr>
              <a:spcAft>
                <a:spcPts val="400"/>
              </a:spcAft>
              <a:defRPr sz="900" b="1">
                <a:solidFill>
                  <a:srgbClr val="F97316"/>
                </a:solidFill>
              </a:defRPr>
            </a:pPr>
            <a:r>
              <a:t>[TEAM APEX]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Problem Statement: SIH26016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Team Name: APEX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System: Real-Time National Land Acquisition &amp; Management System (NLAMS)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Ministry: Ministry of Rural Development (DoLR)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Summary: A sovereign, auditable digital infrastructure transforming India's public land acquisition.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